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bubble3D val="0"/>
            <c:spPr>
              <a:solidFill>
                <a:srgbClr val="A26769"/>
              </a:solidFill>
              <a:effectLst/>
            </c:spPr>
          </c:dPt>
          <c:dPt>
            <c:idx val="2"/>
            <c:bubble3D val="0"/>
            <c:spPr>
              <a:solidFill>
                <a:srgbClr val="C4957A"/>
              </a:solidFill>
              <a:effectLst/>
            </c:spPr>
          </c:dPt>
          <c:dPt>
            <c:idx val="3"/>
            <c:bubble3D val="0"/>
            <c:spPr>
              <a:solidFill>
                <a:srgbClr val="D4A846"/>
              </a:solidFill>
              <a:effectLst/>
            </c:spPr>
          </c:dPt>
          <c:dPt>
            <c:idx val="4"/>
            <c:bubble3D val="0"/>
            <c:spPr>
              <a:solidFill>
                <a:srgbClr val="B8A88A"/>
              </a:solidFill>
              <a:effectLst/>
            </c:spPr>
          </c:dPt>
          <c:dPt>
            <c:idx val="5"/>
            <c:bubble3D val="0"/>
            <c:spPr>
              <a:solidFill>
                <a:srgbClr val="4A8C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Duty (£2.67)</c:v>
                </c:pt>
                <c:pt idx="1">
                  <c:v>VAT (£1.33)</c:v>
                </c:pt>
                <c:pt idx="2">
                  <c:v>Retailer (£1.80)</c:v>
                </c:pt>
                <c:pt idx="3">
                  <c:v>Shipping (£0.65)</c:v>
                </c:pt>
                <c:pt idx="4">
                  <c:v>Packaging (£0.65)</c:v>
                </c:pt>
                <c:pt idx="5">
                  <c:v>THE WINE (£0.90)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2.67</c:v>
                </c:pt>
                <c:pt idx="1">
                  <c:v>1.33</c:v>
                </c:pt>
                <c:pt idx="2">
                  <c:v>1.8</c:v>
                </c:pt>
                <c:pt idx="3">
                  <c:v>0.65</c:v>
                </c:pt>
                <c:pt idx="4">
                  <c:v>0.65</c:v>
                </c:pt>
                <c:pt idx="5">
                  <c:v>0.9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Bottles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D2E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Piccolo</c:v>
                  </c:pt>
                  <c:pt idx="1">
                    <c:v>Half</c:v>
                  </c:pt>
                  <c:pt idx="2">
                    <c:v>Standard</c:v>
                  </c:pt>
                  <c:pt idx="3">
                    <c:v>Magnum</c:v>
                  </c:pt>
                  <c:pt idx="4">
                    <c:v>Jeroboam</c:v>
                  </c:pt>
                  <c:pt idx="5">
                    <c:v>Rehoboam</c:v>
                  </c:pt>
                  <c:pt idx="6">
                    <c:v>Methuselah</c:v>
                  </c:pt>
                  <c:pt idx="7">
                    <c:v>Salmanazar</c:v>
                  </c:pt>
                  <c:pt idx="8">
                    <c:v>Balthazar</c:v>
                  </c:pt>
                  <c:pt idx="9">
                    <c:v>Nebuchadnezzar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0.25</c:v>
                </c:pt>
                <c:pt idx="1">
                  <c:v>0.5</c:v>
                </c:pt>
                <c:pt idx="2">
                  <c:v>1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12</c:v>
                </c:pt>
                <c:pt idx="8">
                  <c:v>16</c:v>
                </c:pt>
                <c:pt idx="9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D2E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BF7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FLAVOURS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Winemaking Deep Dive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Trivia, numbers &amp; nerdy facts you never knew you needed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Thursday 27 March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6D2E4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GRAPE TO GLASS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behind every bottle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Grapes in Your Bottle?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468880" cy="201168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600–800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grapes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bottle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468880" cy="2011680"/>
          </a:xfrm>
          <a:prstGeom prst="rect">
            <a:avLst/>
          </a:prstGeom>
          <a:solidFill>
            <a:srgbClr val="A267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3756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clusters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bottle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468880" cy="2011680"/>
          </a:xfrm>
          <a:prstGeom prst="rect">
            <a:avLst/>
          </a:prstGeom>
          <a:solidFill>
            <a:srgbClr val="D4A84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grapes =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bottle (750ml)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70% of the grape becomes wine. The rest is skin, seeds &amp; stems.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 ≈ 1 glass of wine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worth remembering next time you pour.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Vine to Bottle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F5EDE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vine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grapes / year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clusters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vine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737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bottles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737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glasses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solidFill>
            <a:srgbClr val="F5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acre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423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900–1,500 vines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423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3,000–6,000 bottles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ton of grapes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bottles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F5EDE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oak barrel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794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bottles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794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vineyards deliberately produce less — lower yield = more concentrated flavour.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BRUTAL ECONOMICS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money actually go?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Inside an £8 Bottle?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474720" cy="256032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0" y="12801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4A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~11%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£8 is the actual wine</a:t>
            </a: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DD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from £8 → £12 means roughly 3× more spent on wine quality. Duty &amp; VAT stay the same.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a Winery? Bring Money.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£500K–£1M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3280" y="10058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winery (2,000 cases/yr)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£700–£1,200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6459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French oak barrel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£300–£550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American oak barrel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743200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£4,000–£8,000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9260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steel fermentation tank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2743200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£50K–£100K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Bottling 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2743200" cy="548640"/>
          </a:xfrm>
          <a:prstGeom prst="rect">
            <a:avLst/>
          </a:prstGeom>
          <a:solidFill>
            <a:srgbClr val="D4A84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years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4206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new vine produces quality grapes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spending money for years before you see any return.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Angels’ Share &amp; The Devil’s Cut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3D1A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😇 The Angels’ Share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naturally evaporates through porous oak during ageing.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gallons lost per barrel per year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2–9% of the volume depending on cellar conditions.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humidity = more alcohol evaporates (wine gets weaker)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humidity = more water evaporates (wine gets stronger)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3D1A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😈 The Devil’s Cut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that soaks irreversibly into the wood of the barrel.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wine is gone forever.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Winemakers must regularly ‘top up’ barrels with reserve wine to compensate.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adds significant labour and material cost to barrel-aged wines.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Winemakers can manipulate final alcohol levels by controlling cellar humidity.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WEIRD SCIENCE OF WINE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Chemistry, biology &amp; the surprising truth about taste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Nose vs The Grape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aromas the 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can detect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143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compounds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880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400×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sensitive to bitter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sweet taste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880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3566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wine flavour 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smell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tonight: hold your nose while tasting — the wine becomes almost flavourless!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Fermentation &amp; The Oak Factor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Yeast converts sugar into equal parts alcohol &amp; CO₂. For every 1% alcohol, enough CO₂ is produced to fill ~10 party balloons.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wines use commercial yeast. Wild fermentation is riskier but championed by the natural wine movement.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Fermenting red wine can reach 35°C+ — hot enough to kill yeast and cause a ‘stuck fermentation’ (every winemaker’s nightmare).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Toast Levels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0" y="1554480"/>
            <a:ext cx="3931920" cy="658368"/>
          </a:xfrm>
          <a:prstGeom prst="rect">
            <a:avLst/>
          </a:prstGeom>
          <a:solidFill>
            <a:srgbClr val="D4A8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5544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5544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Vanilla, coconut, sweet spice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2331720"/>
            <a:ext cx="3931920" cy="658368"/>
          </a:xfrm>
          <a:prstGeom prst="rect">
            <a:avLst/>
          </a:prstGeom>
          <a:solidFill>
            <a:srgbClr val="A0781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33172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3317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Toffee, caramel, mocha, baking spice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108960"/>
            <a:ext cx="3931920" cy="658368"/>
          </a:xfrm>
          <a:prstGeom prst="rect">
            <a:avLst/>
          </a:prstGeom>
          <a:solidFill>
            <a:srgbClr val="5C3A2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310896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Heavy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31089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Smoke, char, espresso, dark chocolate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oak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tighter grain, subtler flavours (exotic spice, silk).  </a:t>
            </a:r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oak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looser grain, bolder notes (coconut, dill, vanilla).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Glycerol is the 3rd largest component of dry wine (after water &amp; alcohol) — it creates the ‘legs’ on your glass.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WINE TRIVIA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numbers from around the world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Mind-Blowing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has over 500 officially recognised native grape varieties.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UK, 92% of wine is consumed within 48 hours of purchase.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Champagne: 300 million bottles produced per year. UK imported 22.3 million in 2024.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Provençe has been making rosé for over 2,600 years.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world’s oldest wine bottle is from ~325 AD, found in a Roman tomb in Speyer, Germany. Still sealed.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wine imported to the UK arrives in bulk tankers and is bottled here.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in 2025: 1,104 vineyards, 238 wineries. Land under vine up 510% since 2005.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harvesting: 100 tonnes/day. A human picker: ~1 tonne/day.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 Sizes: The Biblical Collection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in standard bottle equivalents. Methuselah = named after the oldest man in the Bible (969 years).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TONIGHT’S WINES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nerdy bits about your six wines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60520" cy="640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1: Crémant de Loire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ALDI • France • £8.99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hand-harvested by law; aged minimum 9 months.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méthode traditionnelle as Champagne.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inside: ~6 atmospheres (3× a car tyre).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Champagne cork exits at roughly 40 mph.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274320"/>
            <a:ext cx="4160520" cy="640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2743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2: Côtes du Rhône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SAINSBURY’S • France • ~£9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Rhône Valley: 2nd largest AOC in France, 31 appellations.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of Grenache (fruit), Syrah (pepper), Mourvèdre (earth).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Grenache is the world’s most widely planted red grape.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"/>
            <a:ext cx="0" cy="4114800"/>
          </a:xfrm>
          <a:prstGeom prst="line">
            <a:avLst/>
          </a:prstGeom>
          <a:noFill/>
          <a:ln w="19050">
            <a:solidFill>
              <a:srgbClr val="F5E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60520" cy="640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3: Nero d’Avola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TESCO • Sicily • £8.50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means ‘the black grape of Avola’.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Sicily: Italy’s largest wine region, 3,000+ years of winemaking.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only used for blending — now a star in its own 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274320"/>
            <a:ext cx="4160520" cy="640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2743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4: Touriga Franca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WAITROSE • Portugal • £9.25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hidden inside Port blends — rare as a solo wine.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has more native grape varieties per sq mile than any country.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Alentejo region covers a third of Portugal’s landmass.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"/>
            <a:ext cx="0" cy="4114800"/>
          </a:xfrm>
          <a:prstGeom prst="line">
            <a:avLst/>
          </a:prstGeom>
          <a:noFill/>
          <a:ln w="19050">
            <a:solidFill>
              <a:srgbClr val="F5E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60520" cy="640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5: Susana Balbo Malbec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M&amp;S • Argentina • £14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Susana Balbo: Argentina’s first female oenologist.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Grapes grown at 1,250m altitude — more UV = thicker skins = deeper flavour.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Malbec originated in Cahors, France. It nearly went extinct there.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274320"/>
            <a:ext cx="4160520" cy="6400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2743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6: Fairtrade Organic Malbec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• Argentina • £8.65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Fairtrade + organic: no synthetic pesticides, fair wages.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Malbec: UK’s #1 red grape, worth £447 million/year.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Tonight’s challenge: can you tell this from the £14 M&amp;S blind?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"/>
            <a:ext cx="0" cy="4114800"/>
          </a:xfrm>
          <a:prstGeom prst="line">
            <a:avLst/>
          </a:prstGeom>
          <a:noFill/>
          <a:ln w="19050">
            <a:solidFill>
              <a:srgbClr val="F5E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Silchester Wine Society  •  Spring Flavours 2026  •  Powered by AI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CHEERS!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know more about winemaking than 99% of wine drinkers.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Flavours  •  Silchester Wine Society  •  March 2026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AI  •  Powered by Claude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Flavours - Wine Deep Dive</dc:title>
  <dc:subject>PptxGenJS Presentation</dc:subject>
  <dc:creator>AI Sommelier</dc:creator>
  <cp:lastModifiedBy>AI Sommelier</cp:lastModifiedBy>
  <cp:revision>1</cp:revision>
  <dcterms:created xsi:type="dcterms:W3CDTF">2026-03-25T22:11:58Z</dcterms:created>
  <dcterms:modified xsi:type="dcterms:W3CDTF">2026-03-25T22:11:58Z</dcterms:modified>
</cp:coreProperties>
</file>